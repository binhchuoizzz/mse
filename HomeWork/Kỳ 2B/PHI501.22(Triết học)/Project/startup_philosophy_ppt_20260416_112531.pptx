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s50Uy5m2ypk26TeGPV/8DfYUyL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hong Pha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16T14:12:25.235">
    <p:pos x="6000" y="0"/>
    <p:text>Thêm bối cảnh: thời đại VUCA, thời điểm sau bầu cử, thời đại AI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5nAh3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 mở đầu báo cáo. Giới thiệu tên đề tài và các thành viên.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Tổng quan các phần chính của bài thuyết trình: Bối cảnh, Cơ sở triết học, Thực tiễn, Thảo luận.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Ghi chú cho slide này.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Khởi nghiệp ở VN nay được nâng tầm như một nhiệm vụ quốc gia.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Mục tiêu của bài là sử dụng lăng kính hiện sinh để giải mã tinh thần khởi nghiệp.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Ghi chú cho slide này.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Khởi nghiệp ở VN nay được nâng tầm như một nhiệm vụ quốc gia.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Giới thiệu 2 nhánh của triết lý hiện sinh.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âu không phải là thứ cần tránh, mà là dấu hiệu của việc dám chịu trách nhiệm.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Điểm kết nối giữa kinh tế học Schumpeter và triết lý Kierkegaard.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 việc nhận thức bản thân đến phục vụ xã hội rộng lớn.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Ghi chú cho slide này.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Môi trường văn hóa VN cản trở tinh thần dấn thân một cách cấu trúc.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Vingroup là ví dụ điển hình nhất của bước nhảy đức tin cấp tổ chức.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Đạo đức mở được thể chế hóa thành các mô hình phi lợi nhuận hoặc dịch vụ xã hội.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Ghi chú cho slide này.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Thay đổi cần cả từ bản thân founder và từ chính sách nhà nước.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Nhóm phân tích những điểm mù mà triết học phương Tây chưa bao quát ở VN.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Kết luận tổng thể: Khởi nghiệp VN mang ý nghĩa kép.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731606" y="406718"/>
            <a:ext cx="634789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Nhóm 2</a:t>
            </a:r>
            <a:endParaRPr b="1" sz="13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56848" y="2047942"/>
            <a:ext cx="85830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9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Triết học hiện sinh </a:t>
            </a:r>
            <a:endParaRPr b="1" sz="3900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9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và tinh thần khởi nghiệp ở Việt Nam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114425" y="4095750"/>
            <a:ext cx="98679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Từ tự do lựa chọn cá nhân đến trách nhiệm với dân tộc và cộng đồng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4191000" y="4000500"/>
            <a:ext cx="3810000" cy="9525"/>
          </a:xfrm>
          <a:custGeom>
            <a:rect b="b" l="l" r="r" t="t"/>
            <a:pathLst>
              <a:path extrusionOk="0" h="9525" w="3810000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cap="flat" cmpd="sng" w="1905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048375" y="3952875"/>
            <a:ext cx="95250" cy="9525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242656" y="4891496"/>
            <a:ext cx="380193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Instructor : </a:t>
            </a: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PGS.TS. Nguyễn Nghị Thanh</a:t>
            </a: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Presented by 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-"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Thành viên nhóm 2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519260" y="5970113"/>
            <a:ext cx="156067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Tháng 4 / 2026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54330" y="211455"/>
            <a:ext cx="119658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Mục lục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333500" y="1524000"/>
            <a:ext cx="4572000" cy="857250"/>
          </a:xfrm>
          <a:custGeom>
            <a:rect b="b" l="l" r="r" t="t"/>
            <a:pathLst>
              <a:path extrusionOk="0" h="857250" w="45720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781050"/>
                </a:lnTo>
                <a:cubicBezTo>
                  <a:pt x="4572000" y="823134"/>
                  <a:pt x="4537884" y="857250"/>
                  <a:pt x="4495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333500" y="1524000"/>
            <a:ext cx="76200" cy="857250"/>
          </a:xfrm>
          <a:custGeom>
            <a:rect b="b" l="l" r="r" t="t"/>
            <a:pathLst>
              <a:path extrusionOk="0" h="857250" w="762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819150"/>
                </a:lnTo>
                <a:cubicBezTo>
                  <a:pt x="76200" y="840192"/>
                  <a:pt x="59142" y="857250"/>
                  <a:pt x="38100" y="857250"/>
                </a:cubicBezTo>
                <a:lnTo>
                  <a:pt x="38100" y="857250"/>
                </a:lnTo>
                <a:cubicBezTo>
                  <a:pt x="17058" y="857250"/>
                  <a:pt x="0" y="840192"/>
                  <a:pt x="0" y="819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680210" y="1756410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2259330" y="1792605"/>
            <a:ext cx="3000008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Bối cảnh &amp; Mục tiêu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6286500" y="1524000"/>
            <a:ext cx="4572000" cy="857250"/>
          </a:xfrm>
          <a:custGeom>
            <a:rect b="b" l="l" r="r" t="t"/>
            <a:pathLst>
              <a:path extrusionOk="0" h="857250" w="45720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781050"/>
                </a:lnTo>
                <a:cubicBezTo>
                  <a:pt x="4572000" y="823134"/>
                  <a:pt x="4537884" y="857250"/>
                  <a:pt x="4495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286500" y="1524000"/>
            <a:ext cx="76200" cy="857250"/>
          </a:xfrm>
          <a:custGeom>
            <a:rect b="b" l="l" r="r" t="t"/>
            <a:pathLst>
              <a:path extrusionOk="0" h="857250" w="762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819150"/>
                </a:lnTo>
                <a:cubicBezTo>
                  <a:pt x="76200" y="840192"/>
                  <a:pt x="59142" y="857250"/>
                  <a:pt x="38100" y="857250"/>
                </a:cubicBezTo>
                <a:lnTo>
                  <a:pt x="38100" y="857250"/>
                </a:lnTo>
                <a:cubicBezTo>
                  <a:pt x="17058" y="857250"/>
                  <a:pt x="0" y="840192"/>
                  <a:pt x="0" y="819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633210" y="17564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7212330" y="1792605"/>
            <a:ext cx="383731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Cơ sở Triết học Hiện sinh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1333500" y="2857500"/>
            <a:ext cx="4572000" cy="857250"/>
          </a:xfrm>
          <a:custGeom>
            <a:rect b="b" l="l" r="r" t="t"/>
            <a:pathLst>
              <a:path extrusionOk="0" h="857250" w="45720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781050"/>
                </a:lnTo>
                <a:cubicBezTo>
                  <a:pt x="4572000" y="823134"/>
                  <a:pt x="4537884" y="857250"/>
                  <a:pt x="4495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333500" y="2857500"/>
            <a:ext cx="76200" cy="857250"/>
          </a:xfrm>
          <a:custGeom>
            <a:rect b="b" l="l" r="r" t="t"/>
            <a:pathLst>
              <a:path extrusionOk="0" h="857250" w="762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819150"/>
                </a:lnTo>
                <a:cubicBezTo>
                  <a:pt x="76200" y="840192"/>
                  <a:pt x="59142" y="857250"/>
                  <a:pt x="38100" y="857250"/>
                </a:cubicBezTo>
                <a:lnTo>
                  <a:pt x="38100" y="857250"/>
                </a:lnTo>
                <a:cubicBezTo>
                  <a:pt x="17058" y="857250"/>
                  <a:pt x="0" y="840192"/>
                  <a:pt x="0" y="819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680210" y="3089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2259330" y="3126105"/>
            <a:ext cx="275395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Phân tích Case Study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6286500" y="2857500"/>
            <a:ext cx="4572000" cy="857250"/>
          </a:xfrm>
          <a:custGeom>
            <a:rect b="b" l="l" r="r" t="t"/>
            <a:pathLst>
              <a:path extrusionOk="0" h="857250" w="45720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781050"/>
                </a:lnTo>
                <a:cubicBezTo>
                  <a:pt x="4572000" y="823134"/>
                  <a:pt x="4537884" y="857250"/>
                  <a:pt x="4495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286500" y="2857500"/>
            <a:ext cx="76200" cy="857250"/>
          </a:xfrm>
          <a:custGeom>
            <a:rect b="b" l="l" r="r" t="t"/>
            <a:pathLst>
              <a:path extrusionOk="0" h="857250" w="762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819150"/>
                </a:lnTo>
                <a:cubicBezTo>
                  <a:pt x="76200" y="840192"/>
                  <a:pt x="59142" y="857250"/>
                  <a:pt x="38100" y="857250"/>
                </a:cubicBezTo>
                <a:lnTo>
                  <a:pt x="38100" y="857250"/>
                </a:lnTo>
                <a:cubicBezTo>
                  <a:pt x="17058" y="857250"/>
                  <a:pt x="0" y="840192"/>
                  <a:pt x="0" y="819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633210" y="3089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7212330" y="3126105"/>
            <a:ext cx="3112722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Thảo luận &amp; Kết luận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5208755" y="2725925"/>
            <a:ext cx="177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PHẦN 1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3434134" y="3356610"/>
            <a:ext cx="5323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Bối cảnh</a:t>
            </a:r>
            <a:r>
              <a:rPr b="1" lang="zh-CN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zh-CN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Vấn đề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762500" y="4286250"/>
            <a:ext cx="2667000" cy="9525"/>
          </a:xfrm>
          <a:custGeom>
            <a:rect b="b" l="l" r="r" t="t"/>
            <a:pathLst>
              <a:path extrusionOk="0" h="9525"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354330" y="211455"/>
            <a:ext cx="7202634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Khởi nghiệp: Một hình thức yêu nước thời bình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952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294596" y="1905000"/>
            <a:ext cx="4944904" cy="409956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952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286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1922455" y="1501140"/>
            <a:ext cx="301309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Chính sách &amp; Tầm nhìn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7394472" y="1501140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Bản chất Khởi nghiệp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1312545" y="2203132"/>
            <a:ext cx="498205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Đổi mới sáng tạo (NQ57, Chiến lược 2026)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312545" y="2584132"/>
            <a:ext cx="459647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Mục tiêu phát triển tự cường quốc gia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6646545" y="2203132"/>
            <a:ext cx="298189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Không chỉ là mở công ty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6646545" y="2584132"/>
            <a:ext cx="3801237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Cách tạo giá trị mới cho xã hội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646545" y="2965132"/>
            <a:ext cx="515073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Hành động trong bất định (logic hiện sinh)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pic>
        <p:nvPicPr>
          <p:cNvPr descr="Entrepreneur: What It Means to Be One and How to Get Started" id="153" name="Google Shape;1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6545" y="3382804"/>
            <a:ext cx="3801237" cy="253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354330" y="211455"/>
            <a:ext cx="461021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 đề và Mục tiêu nghiên cứu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952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286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52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286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2522830" y="1501140"/>
            <a:ext cx="181234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 đề Đặt ra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7705011" y="1501140"/>
            <a:ext cx="21159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Mục tiêu Cốt lõi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1312545" y="2203132"/>
            <a:ext cx="401812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Sự giằng xé giữa tự do cá nhân và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1312545" y="2584132"/>
            <a:ext cx="337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1650">
                <a:solidFill>
                  <a:srgbClr val="333333"/>
                </a:solidFill>
              </a:rPr>
              <a:t>T</a:t>
            </a: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rách nhiệm với cộng đồng.</a:t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1312545" y="2965132"/>
            <a:ext cx="4536234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Định hướng XHCN &amp; tinh thần dân tộc.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6646545" y="2203132"/>
            <a:ext cx="325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Làm rõ khái niệm cốt lõi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6646545" y="2584132"/>
            <a:ext cx="521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Phân tích qua thực tiễn doanh nghiệp VN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6646545" y="2965132"/>
            <a:ext cx="507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Thảo luận hàm ý quản trị &amp; hệ sinh thái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5430281" y="2851785"/>
            <a:ext cx="133143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PHẦN 2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3707868" y="3356610"/>
            <a:ext cx="4776264" cy="85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Cơ sở triết học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762500" y="4286250"/>
            <a:ext cx="2667000" cy="9525"/>
          </a:xfrm>
          <a:custGeom>
            <a:rect b="b" l="l" r="r" t="t"/>
            <a:pathLst>
              <a:path extrusionOk="0" h="9525"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354330" y="211455"/>
            <a:ext cx="637834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Định nghĩa triết học Hiện sinh: Søren Kierkegaard</a:t>
            </a:r>
            <a:endParaRPr b="1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952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952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2403078" y="1501140"/>
            <a:ext cx="20518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Søren Kierkegaard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7394472" y="1501140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Bản chất Khởi nghiệp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1312545" y="2203132"/>
            <a:ext cx="421043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Søren Kierkegaard là người đặt nền móng sớm nhất cho chủ nghĩa hiện sinh; về sau, chủ nghĩa hiện sinh thường được chia thành hai khuynh hướng lớn: hiện sinh hữu thần và hiện sinh vô thần.</a:t>
            </a: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6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309021" y="4046660"/>
            <a:ext cx="4213955" cy="1638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Hiện sinh hữu thần: tiêu biểu như Kierkegaard, Gabriel Marcel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Hiện sinh vô thần: tiêu biểu như Jean-Paul Sartre, Albert Camus</a:t>
            </a:r>
            <a:b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pic>
        <p:nvPicPr>
          <p:cNvPr descr="Søren Kierkegaard – Wikipedia tiếng Việt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2811" y="1292064"/>
            <a:ext cx="3026545" cy="4527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354330" y="211455"/>
            <a:ext cx="4803434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Nguồn gốc: Chủ nghĩa hiện sinh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952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286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952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286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652696" y="1501140"/>
            <a:ext cx="5552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Hiện sinh hữu thần (Kierkegaard, Marcel)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6449054" y="1501140"/>
            <a:ext cx="462789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Hiện sinh vô thần (Sartre, Camus)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1312545" y="2203132"/>
            <a:ext cx="2873454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Con người lo âu, cô đơn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1312545" y="2584132"/>
            <a:ext cx="4801314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Nhưng cuối cùng vẫn hướng về Thượng đế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6646545" y="2203132"/>
            <a:ext cx="278911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Không có sẵn bản chất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6646545" y="2584132"/>
            <a:ext cx="513869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Con người phải tự tạo ý nghĩa cho đời mình</a:t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354330" y="211455"/>
            <a:ext cx="5608534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Khái niệm: Bước nhảy đức tin &amp; Lo âu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952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286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52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286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1259972" y="1501140"/>
            <a:ext cx="43380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Bước nhảy Đức tin (Kierkegaard)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7705011" y="1501140"/>
            <a:ext cx="21159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âu (Anxiety)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1312545" y="2203132"/>
            <a:ext cx="3186732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Hành động trong bất định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1312545" y="2584132"/>
            <a:ext cx="488565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Chấp nhận rủi ro thay vì chờ đợi an toàn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6646545" y="2203132"/>
            <a:ext cx="334337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Điều kiện tất yếu của tự do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6646545" y="2584132"/>
            <a:ext cx="412656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Chứng minh sự lựa chọn có ý nghĩa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354330" y="211455"/>
            <a:ext cx="609159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Phá hủy Sáng tạo (Joseph Schumpeter)</a:t>
            </a:r>
            <a:endParaRPr/>
          </a:p>
        </p:txBody>
      </p:sp>
      <p:sp>
        <p:nvSpPr>
          <p:cNvPr id="254" name="Google Shape;254;p10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1333500" y="1333500"/>
            <a:ext cx="9525000" cy="4572000"/>
          </a:xfrm>
          <a:custGeom>
            <a:rect b="b" l="l" r="r" t="t"/>
            <a:pathLst>
              <a:path extrusionOk="0" h="4572000" w="9525000">
                <a:moveTo>
                  <a:pt x="76200" y="0"/>
                </a:moveTo>
                <a:lnTo>
                  <a:pt x="9448800" y="0"/>
                </a:lnTo>
                <a:cubicBezTo>
                  <a:pt x="9490884" y="0"/>
                  <a:pt x="9525000" y="34116"/>
                  <a:pt x="9525000" y="76200"/>
                </a:cubicBezTo>
                <a:lnTo>
                  <a:pt x="9525000" y="4495800"/>
                </a:lnTo>
                <a:cubicBezTo>
                  <a:pt x="9525000" y="4537884"/>
                  <a:pt x="9490884" y="4572000"/>
                  <a:pt x="9448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333500" y="1333500"/>
            <a:ext cx="76200" cy="4572000"/>
          </a:xfrm>
          <a:custGeom>
            <a:rect b="b" l="l" r="r" t="t"/>
            <a:pathLst>
              <a:path extrusionOk="0" h="4572000" w="762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4533900"/>
                </a:lnTo>
                <a:cubicBezTo>
                  <a:pt x="76200" y="4554942"/>
                  <a:pt x="59142" y="4572000"/>
                  <a:pt x="38100" y="4572000"/>
                </a:cubicBezTo>
                <a:lnTo>
                  <a:pt x="38100" y="4572000"/>
                </a:lnTo>
                <a:cubicBezTo>
                  <a:pt x="17058" y="4572000"/>
                  <a:pt x="0" y="4554942"/>
                  <a:pt x="0" y="453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1786890" y="1710690"/>
            <a:ext cx="1046930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Tiến bộ kinh tế không diễn ra nhờ việc lặp lại cái cũ, mà nhờ quá trình phá bỏ những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1786890" y="2139315"/>
            <a:ext cx="8234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cấu trúc cũ để tạo ra giá trị mới. Điểm tương đồng với hiện sinh:</a:t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1786890" y="2567940"/>
            <a:ext cx="37130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Tạo ra giá trị từ sự bất định</a:t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1786890" y="2996565"/>
            <a:ext cx="560584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Không có đột phá nếu chọn 'tư thế khán giả'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1786890" y="3425190"/>
            <a:ext cx="73014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Chấp nhận rủi ro và phá vỡ cấu trúc duy trì trạng thái cũ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354330" y="211455"/>
            <a:ext cx="5833962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Đạo đức mở: Trách nhiệm với tha nhân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952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286500" y="1333500"/>
            <a:ext cx="4953000" cy="4572000"/>
          </a:xfrm>
          <a:custGeom>
            <a:rect b="b" l="l" r="r" t="t"/>
            <a:pathLst>
              <a:path extrusionOk="0" h="45720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495800"/>
                </a:lnTo>
                <a:cubicBezTo>
                  <a:pt x="4953000" y="4537884"/>
                  <a:pt x="4918884" y="4572000"/>
                  <a:pt x="4876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952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286500" y="1333500"/>
            <a:ext cx="4953000" cy="571500"/>
          </a:xfrm>
          <a:custGeom>
            <a:rect b="b" l="l" r="r" t="t"/>
            <a:pathLst>
              <a:path extrusionOk="0" h="571500" w="495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95300"/>
                </a:lnTo>
                <a:cubicBezTo>
                  <a:pt x="4953000" y="537384"/>
                  <a:pt x="4918884" y="571500"/>
                  <a:pt x="487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1501502" y="1501140"/>
            <a:ext cx="38549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Đạo đức mở (Lý Chánh Trung)</a:t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7511786" y="1501140"/>
            <a:ext cx="25024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Tinh thần Dấn thân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1312545" y="2203132"/>
            <a:ext cx="464467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Vượt qua đạo đức đóng (khuôn mẫu cũ)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1312545" y="2584132"/>
            <a:ext cx="418680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Hành động dẫn dắt bởi sự thấu cảm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6646545" y="2203132"/>
            <a:ext cx="4391644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Người trong đấu trường (Roosevelt)</a:t>
            </a:r>
            <a:endParaRPr/>
          </a:p>
        </p:txBody>
      </p:sp>
      <p:sp>
        <p:nvSpPr>
          <p:cNvPr id="282" name="Google Shape;282;p11"/>
          <p:cNvSpPr txBox="1"/>
          <p:nvPr/>
        </p:nvSpPr>
        <p:spPr>
          <a:xfrm>
            <a:off x="6646545" y="2584132"/>
            <a:ext cx="418680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Giá trị thuộc về kẻ dám thực hành</a:t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5430281" y="2851785"/>
            <a:ext cx="133143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PHẦN 3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1034934" y="3356610"/>
            <a:ext cx="10122132" cy="85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Phân tích Thực tiễn tại Việt Nam</a:t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762500" y="4286250"/>
            <a:ext cx="2667000" cy="9525"/>
          </a:xfrm>
          <a:custGeom>
            <a:rect b="b" l="l" r="r" t="t"/>
            <a:pathLst>
              <a:path extrusionOk="0" h="9525"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4750927" y="1571625"/>
            <a:ext cx="3088625" cy="4381500"/>
          </a:xfrm>
          <a:custGeom>
            <a:rect b="b" l="l" r="r" t="t"/>
            <a:pathLst>
              <a:path extrusionOk="0" h="4381500" w="3429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4305300"/>
                </a:lnTo>
                <a:cubicBezTo>
                  <a:pt x="3429000" y="4347384"/>
                  <a:pt x="3394884" y="4381500"/>
                  <a:pt x="335280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354330" y="211455"/>
            <a:ext cx="6381431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Môi trường Khởi nghiệp Việt Nam: Rào cản</a:t>
            </a:r>
            <a:endParaRPr/>
          </a:p>
        </p:txBody>
      </p:sp>
      <p:sp>
        <p:nvSpPr>
          <p:cNvPr id="303" name="Google Shape;303;p13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831151" y="1524000"/>
            <a:ext cx="3088625" cy="4381500"/>
          </a:xfrm>
          <a:custGeom>
            <a:rect b="b" l="l" r="r" t="t"/>
            <a:pathLst>
              <a:path extrusionOk="0" h="4381500" w="3429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4305300"/>
                </a:lnTo>
                <a:cubicBezTo>
                  <a:pt x="3429000" y="4347384"/>
                  <a:pt x="3394884" y="4381500"/>
                  <a:pt x="335280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840922" y="1543050"/>
            <a:ext cx="2887292" cy="4362450"/>
          </a:xfrm>
          <a:custGeom>
            <a:rect b="b" l="l" r="r" t="t"/>
            <a:pathLst>
              <a:path extrusionOk="0" h="4381500" w="3429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4305300"/>
                </a:lnTo>
                <a:cubicBezTo>
                  <a:pt x="3429000" y="4347384"/>
                  <a:pt x="3394884" y="4381500"/>
                  <a:pt x="335280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191500" y="1524000"/>
            <a:ext cx="3429000" cy="4381500"/>
          </a:xfrm>
          <a:custGeom>
            <a:rect b="b" l="l" r="r" t="t"/>
            <a:pathLst>
              <a:path extrusionOk="0" h="4381500" w="3429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4305300"/>
                </a:lnTo>
                <a:cubicBezTo>
                  <a:pt x="3429000" y="4347384"/>
                  <a:pt x="3394884" y="4381500"/>
                  <a:pt x="335280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2000250" y="1809750"/>
            <a:ext cx="571500" cy="571500"/>
          </a:xfrm>
          <a:prstGeom prst="ellipse">
            <a:avLst/>
          </a:prstGeom>
          <a:solidFill>
            <a:srgbClr val="003366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5810250" y="1809750"/>
            <a:ext cx="571500" cy="571500"/>
          </a:xfrm>
          <a:prstGeom prst="ellipse">
            <a:avLst/>
          </a:prstGeom>
          <a:solidFill>
            <a:srgbClr val="003366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9620250" y="1809750"/>
            <a:ext cx="571500" cy="571500"/>
          </a:xfrm>
          <a:prstGeom prst="ellipse">
            <a:avLst/>
          </a:prstGeom>
          <a:solidFill>
            <a:srgbClr val="003366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 txBox="1"/>
          <p:nvPr/>
        </p:nvSpPr>
        <p:spPr>
          <a:xfrm>
            <a:off x="1228011" y="3722846"/>
            <a:ext cx="21159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Văn hóa Ổn định</a:t>
            </a:r>
            <a:endParaRPr/>
          </a:p>
        </p:txBody>
      </p:sp>
      <p:sp>
        <p:nvSpPr>
          <p:cNvPr id="311" name="Google Shape;311;p13"/>
          <p:cNvSpPr txBox="1"/>
          <p:nvPr/>
        </p:nvSpPr>
        <p:spPr>
          <a:xfrm>
            <a:off x="4879291" y="3713321"/>
            <a:ext cx="24334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Định kiến Thất bại</a:t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8673598" y="3713226"/>
            <a:ext cx="25024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Gánh nặng Gia đình</a:t>
            </a:r>
            <a:endParaRPr/>
          </a:p>
        </p:txBody>
      </p:sp>
      <p:sp>
        <p:nvSpPr>
          <p:cNvPr id="313" name="Google Shape;313;p13"/>
          <p:cNvSpPr txBox="1"/>
          <p:nvPr/>
        </p:nvSpPr>
        <p:spPr>
          <a:xfrm>
            <a:off x="1075373" y="4088606"/>
            <a:ext cx="25465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Xã hội đề cao sự ổn định</a:t>
            </a:r>
            <a:endParaRPr/>
          </a:p>
        </p:txBody>
      </p:sp>
      <p:sp>
        <p:nvSpPr>
          <p:cNvPr id="314" name="Google Shape;314;p13"/>
          <p:cNvSpPr txBox="1"/>
          <p:nvPr/>
        </p:nvSpPr>
        <p:spPr>
          <a:xfrm>
            <a:off x="571500" y="4374356"/>
            <a:ext cx="355425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và rủi ro gắn liền với làm mất mặt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4729639" y="4221956"/>
            <a:ext cx="273272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Thất bại gắn với định kiến</a:t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5348526" y="4507706"/>
            <a:ext cx="14949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của cộng đồng</a:t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8848725" y="4221861"/>
            <a:ext cx="215217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Trách nhiệm chu cấp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8191500" y="4507611"/>
            <a:ext cx="34666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tạo nên 'lo âu hiện sinh' đặc thù</a:t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descr="Đừng Để Sự Ổn Định, Chắc Chắn Quá Mức Khiến Bạn Dậm Chân Tại Chỗ - YBOX" id="321" name="Google Shape;3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471" y="1713717"/>
            <a:ext cx="3119305" cy="1819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í quyết thành công: 8 cách để &quot;thất bại hiệu quả&quot; | Báo Dân trí" id="322" name="Google Shape;32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0922" y="1679664"/>
            <a:ext cx="2868480" cy="1874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Gia dinh - Tải xuống Vector Chất lượng Cao Miễn phí từ Freepik |  Freepik" id="323" name="Google Shape;32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13459" y="1562767"/>
            <a:ext cx="2264902" cy="2048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354330" y="211455"/>
            <a:ext cx="641363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Study: Vingroup - Bước nhảy đức tin</a:t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1333500" y="1333500"/>
            <a:ext cx="9525000" cy="4572000"/>
          </a:xfrm>
          <a:custGeom>
            <a:rect b="b" l="l" r="r" t="t"/>
            <a:pathLst>
              <a:path extrusionOk="0" h="4572000" w="9525000">
                <a:moveTo>
                  <a:pt x="76200" y="0"/>
                </a:moveTo>
                <a:lnTo>
                  <a:pt x="9448800" y="0"/>
                </a:lnTo>
                <a:cubicBezTo>
                  <a:pt x="9490884" y="0"/>
                  <a:pt x="9525000" y="34116"/>
                  <a:pt x="9525000" y="76200"/>
                </a:cubicBezTo>
                <a:lnTo>
                  <a:pt x="9525000" y="4495800"/>
                </a:lnTo>
                <a:cubicBezTo>
                  <a:pt x="9525000" y="4537884"/>
                  <a:pt x="9490884" y="4572000"/>
                  <a:pt x="9448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1333500" y="1333500"/>
            <a:ext cx="76200" cy="4572000"/>
          </a:xfrm>
          <a:custGeom>
            <a:rect b="b" l="l" r="r" t="t"/>
            <a:pathLst>
              <a:path extrusionOk="0" h="4572000" w="762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4533900"/>
                </a:lnTo>
                <a:cubicBezTo>
                  <a:pt x="76200" y="4554942"/>
                  <a:pt x="59142" y="4572000"/>
                  <a:pt x="38100" y="4572000"/>
                </a:cubicBezTo>
                <a:lnTo>
                  <a:pt x="38100" y="4572000"/>
                </a:lnTo>
                <a:cubicBezTo>
                  <a:pt x="17058" y="4572000"/>
                  <a:pt x="0" y="4554942"/>
                  <a:pt x="0" y="453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1786890" y="1710690"/>
            <a:ext cx="402850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Quyết định chuyển dịch ngành:</a:t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1786890" y="2139315"/>
            <a:ext cx="663111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Từ Bất động sản sang Công nghiệp xe điện (VinFast).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1786890" y="2567940"/>
            <a:ext cx="126815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Đặc điểm: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1786890" y="2996565"/>
            <a:ext cx="722261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- Rủi ro cao về công nghệ, vốn, chuỗi cung ứng toàn cầu.</a:t>
            </a:r>
            <a:endParaRPr/>
          </a:p>
        </p:txBody>
      </p:sp>
      <p:sp>
        <p:nvSpPr>
          <p:cNvPr id="339" name="Google Shape;339;p14"/>
          <p:cNvSpPr txBox="1"/>
          <p:nvPr/>
        </p:nvSpPr>
        <p:spPr>
          <a:xfrm>
            <a:off x="1786890" y="3425190"/>
            <a:ext cx="546125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- Hành động không chờ 'điều kiện hoàn hảo'</a:t>
            </a:r>
            <a:endParaRPr/>
          </a:p>
        </p:txBody>
      </p:sp>
      <p:sp>
        <p:nvSpPr>
          <p:cNvPr id="340" name="Google Shape;340;p14"/>
          <p:cNvSpPr txBox="1"/>
          <p:nvPr/>
        </p:nvSpPr>
        <p:spPr>
          <a:xfrm>
            <a:off x="1786890" y="3853815"/>
            <a:ext cx="649966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- Tạo ra chuỗi giá trị và năng lực mới cho quốc gia.</a:t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pic>
        <p:nvPicPr>
          <p:cNvPr descr="VinFast của ông Phạm Nhật Vượng đang làm ăn thế nào tại thị trường đông dân  nhất thế giới?" id="343" name="Google Shape;3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302" y="1597342"/>
            <a:ext cx="2911793" cy="1941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nFast công bố định hướng mở rộng sang thị trường xe điện Đông Nam Á" id="344" name="Google Shape;3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5302" y="3853815"/>
            <a:ext cx="2965571" cy="1976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0" y="0"/>
            <a:ext cx="12192000" cy="6669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0" y="0"/>
            <a:ext cx="57300" cy="666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354330" y="211455"/>
            <a:ext cx="539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Study: Vingroup - Đạo đức mở</a:t>
            </a:r>
            <a:endParaRPr/>
          </a:p>
        </p:txBody>
      </p:sp>
      <p:sp>
        <p:nvSpPr>
          <p:cNvPr id="353" name="Google Shape;353;p15"/>
          <p:cNvSpPr txBox="1"/>
          <p:nvPr/>
        </p:nvSpPr>
        <p:spPr>
          <a:xfrm>
            <a:off x="10299092" y="292418"/>
            <a:ext cx="1338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 txBox="1"/>
          <p:nvPr/>
        </p:nvSpPr>
        <p:spPr>
          <a:xfrm>
            <a:off x="11476815" y="6506528"/>
            <a:ext cx="15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grpSp>
        <p:nvGrpSpPr>
          <p:cNvPr id="356" name="Google Shape;356;p15"/>
          <p:cNvGrpSpPr/>
          <p:nvPr/>
        </p:nvGrpSpPr>
        <p:grpSpPr>
          <a:xfrm>
            <a:off x="571500" y="1333500"/>
            <a:ext cx="5238900" cy="4572000"/>
            <a:chOff x="571500" y="1333500"/>
            <a:chExt cx="5238900" cy="4572000"/>
          </a:xfrm>
        </p:grpSpPr>
        <p:sp>
          <p:nvSpPr>
            <p:cNvPr id="357" name="Google Shape;357;p15"/>
            <p:cNvSpPr/>
            <p:nvPr/>
          </p:nvSpPr>
          <p:spPr>
            <a:xfrm>
              <a:off x="571500" y="1333500"/>
              <a:ext cx="5238900" cy="4572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571500" y="1333500"/>
              <a:ext cx="5238900" cy="571500"/>
            </a:xfrm>
            <a:prstGeom prst="roundRect">
              <a:avLst>
                <a:gd fmla="val 20000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571500" y="1714500"/>
              <a:ext cx="5238900" cy="190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 txBox="1"/>
            <p:nvPr/>
          </p:nvSpPr>
          <p:spPr>
            <a:xfrm>
              <a:off x="571500" y="1333500"/>
              <a:ext cx="523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Phá hủy Sáng tạo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5"/>
            <p:cNvSpPr txBox="1"/>
            <p:nvPr/>
          </p:nvSpPr>
          <p:spPr>
            <a:xfrm>
              <a:off x="857250" y="2095500"/>
              <a:ext cx="4667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zh-CN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Rút khỏi bán lẻ (VinMart)</a:t>
              </a:r>
              <a:endParaRPr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zh-CN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Tái phân bổ nguồn lực cốt lõi</a:t>
              </a:r>
              <a:endParaRPr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2" name="Google Shape;362;p15"/>
            <p:cNvPicPr preferRelativeResize="0"/>
            <p:nvPr/>
          </p:nvPicPr>
          <p:blipFill rotWithShape="1">
            <a:blip r:embed="rId3">
              <a:alphaModFix/>
            </a:blip>
            <a:srcRect b="11288" l="0" r="0" t="11288"/>
            <a:stretch/>
          </p:blipFill>
          <p:spPr>
            <a:xfrm>
              <a:off x="857250" y="3143250"/>
              <a:ext cx="4667400" cy="2476500"/>
            </a:xfrm>
            <a:prstGeom prst="roundRect">
              <a:avLst>
                <a:gd fmla="val 3076" name="adj"/>
              </a:avLst>
            </a:prstGeom>
            <a:noFill/>
            <a:ln>
              <a:noFill/>
            </a:ln>
          </p:spPr>
        </p:pic>
      </p:grpSp>
      <p:grpSp>
        <p:nvGrpSpPr>
          <p:cNvPr id="363" name="Google Shape;363;p15"/>
          <p:cNvGrpSpPr/>
          <p:nvPr/>
        </p:nvGrpSpPr>
        <p:grpSpPr>
          <a:xfrm>
            <a:off x="6381750" y="1333500"/>
            <a:ext cx="5238900" cy="4572000"/>
            <a:chOff x="6381750" y="1333500"/>
            <a:chExt cx="5238900" cy="4572000"/>
          </a:xfrm>
        </p:grpSpPr>
        <p:sp>
          <p:nvSpPr>
            <p:cNvPr id="364" name="Google Shape;364;p15"/>
            <p:cNvSpPr/>
            <p:nvPr/>
          </p:nvSpPr>
          <p:spPr>
            <a:xfrm>
              <a:off x="6381750" y="1333500"/>
              <a:ext cx="5238900" cy="4572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6381750" y="1333500"/>
              <a:ext cx="5238900" cy="571500"/>
            </a:xfrm>
            <a:prstGeom prst="roundRect">
              <a:avLst>
                <a:gd fmla="val 20000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6381750" y="1714500"/>
              <a:ext cx="5238900" cy="190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 txBox="1"/>
            <p:nvPr/>
          </p:nvSpPr>
          <p:spPr>
            <a:xfrm>
              <a:off x="6381750" y="1333500"/>
              <a:ext cx="523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Phụng sự &amp; Đạo đức mở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5"/>
            <p:cNvSpPr txBox="1"/>
            <p:nvPr/>
          </p:nvSpPr>
          <p:spPr>
            <a:xfrm>
              <a:off x="6667500" y="2095500"/>
              <a:ext cx="4667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zh-CN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Vinschool, Vinmec, VinUni</a:t>
              </a:r>
              <a:endParaRPr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zh-CN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Phụng sự là sứ mệnh, không là phụ trợ</a:t>
              </a:r>
              <a:endParaRPr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9" name="Google Shape;369;p15"/>
            <p:cNvPicPr preferRelativeResize="0"/>
            <p:nvPr/>
          </p:nvPicPr>
          <p:blipFill rotWithShape="1">
            <a:blip r:embed="rId4">
              <a:alphaModFix/>
            </a:blip>
            <a:srcRect b="9077" l="0" r="0" t="9077"/>
            <a:stretch/>
          </p:blipFill>
          <p:spPr>
            <a:xfrm>
              <a:off x="6667500" y="3143250"/>
              <a:ext cx="4667400" cy="2476500"/>
            </a:xfrm>
            <a:prstGeom prst="roundRect">
              <a:avLst>
                <a:gd fmla="val 3076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5430281" y="2851785"/>
            <a:ext cx="133143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PHẦN 4</a:t>
            </a:r>
            <a:endParaRPr/>
          </a:p>
        </p:txBody>
      </p:sp>
      <p:sp>
        <p:nvSpPr>
          <p:cNvPr id="377" name="Google Shape;377;p16"/>
          <p:cNvSpPr txBox="1"/>
          <p:nvPr/>
        </p:nvSpPr>
        <p:spPr>
          <a:xfrm>
            <a:off x="2983278" y="3356610"/>
            <a:ext cx="6225445" cy="85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Thảo luận &amp; Kết luận</a:t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4762500" y="4286250"/>
            <a:ext cx="2667000" cy="9525"/>
          </a:xfrm>
          <a:custGeom>
            <a:rect b="b" l="l" r="r" t="t"/>
            <a:pathLst>
              <a:path extrusionOk="0" h="9525"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0" y="0"/>
            <a:ext cx="12192000" cy="6669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0" y="0"/>
            <a:ext cx="57300" cy="666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354330" y="211455"/>
            <a:ext cx="488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Ý nghĩa Quản trị &amp; Hệ sinh thái</a:t>
            </a:r>
            <a:endParaRPr/>
          </a:p>
        </p:txBody>
      </p:sp>
      <p:sp>
        <p:nvSpPr>
          <p:cNvPr id="387" name="Google Shape;387;p17"/>
          <p:cNvSpPr txBox="1"/>
          <p:nvPr/>
        </p:nvSpPr>
        <p:spPr>
          <a:xfrm>
            <a:off x="10299092" y="292418"/>
            <a:ext cx="1338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571500" y="1333500"/>
            <a:ext cx="101609843" cy="166935150"/>
          </a:xfrm>
          <a:custGeom>
            <a:rect b="b" l="l" r="r" t="t"/>
            <a:pathLst>
              <a:path extrusionOk="0" h="4381500" w="3429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4305300"/>
                </a:lnTo>
                <a:cubicBezTo>
                  <a:pt x="3429000" y="4347384"/>
                  <a:pt x="3394884" y="4381500"/>
                  <a:pt x="335280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4317968" y="1333500"/>
            <a:ext cx="101609843" cy="166935150"/>
          </a:xfrm>
          <a:custGeom>
            <a:rect b="b" l="l" r="r" t="t"/>
            <a:pathLst>
              <a:path extrusionOk="0" h="4381500" w="3429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4305300"/>
                </a:lnTo>
                <a:cubicBezTo>
                  <a:pt x="3429000" y="4347384"/>
                  <a:pt x="3394884" y="4381500"/>
                  <a:pt x="335280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8064436" y="1333500"/>
            <a:ext cx="101609843" cy="166935150"/>
          </a:xfrm>
          <a:custGeom>
            <a:rect b="b" l="l" r="r" t="t"/>
            <a:pathLst>
              <a:path extrusionOk="0" h="4381500" w="3429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4305300"/>
                </a:lnTo>
                <a:cubicBezTo>
                  <a:pt x="3429000" y="4347384"/>
                  <a:pt x="3394884" y="4381500"/>
                  <a:pt x="335280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571500" y="1333500"/>
            <a:ext cx="3555900" cy="1143000"/>
          </a:xfrm>
          <a:prstGeom prst="roundRect">
            <a:avLst>
              <a:gd fmla="val 8333" name="adj"/>
            </a:avLst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4317968" y="1333500"/>
            <a:ext cx="3555900" cy="1143000"/>
          </a:xfrm>
          <a:prstGeom prst="roundRect">
            <a:avLst>
              <a:gd fmla="val 8333" name="adj"/>
            </a:avLst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8064437" y="1333500"/>
            <a:ext cx="3555900" cy="1143000"/>
          </a:xfrm>
          <a:prstGeom prst="roundRect">
            <a:avLst>
              <a:gd fmla="val 8333" name="adj"/>
            </a:avLst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571500" y="1475486"/>
            <a:ext cx="3555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person</a:t>
            </a:r>
            <a:endParaRPr sz="32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395" name="Google Shape;395;p17"/>
          <p:cNvSpPr txBox="1"/>
          <p:nvPr/>
        </p:nvSpPr>
        <p:spPr>
          <a:xfrm>
            <a:off x="4317968" y="1475486"/>
            <a:ext cx="3555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gavel</a:t>
            </a:r>
            <a:endParaRPr sz="32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8064437" y="1475486"/>
            <a:ext cx="3555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hub</a:t>
            </a:r>
            <a:endParaRPr sz="32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571500" y="2000250"/>
            <a:ext cx="3555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Nhà Sáng lập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4317968" y="2000250"/>
            <a:ext cx="3555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Hoạch định Chính sách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8064437" y="2000250"/>
            <a:ext cx="3555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Hệ sinh thái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762000" y="2667000"/>
            <a:ext cx="3174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Chấp nhận bất định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150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Không ngừng học hỏi từ thất bại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11476815" y="6506528"/>
            <a:ext cx="15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4508468" y="2667000"/>
            <a:ext cx="3174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Bình thường hóa thất bại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150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Hỗ trợ an sinh mạng lưới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8254937" y="2667000"/>
            <a:ext cx="3174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150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zh-CN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Giảm gánh nặng cô đơn qua cộng đồng mentor/founder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571500" y="2286000"/>
            <a:ext cx="3555900" cy="190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"/>
          <p:cNvSpPr/>
          <p:nvPr/>
        </p:nvSpPr>
        <p:spPr>
          <a:xfrm>
            <a:off x="4317968" y="2286000"/>
            <a:ext cx="3555900" cy="190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8064437" y="2286000"/>
            <a:ext cx="3555900" cy="190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 txBox="1"/>
          <p:nvPr/>
        </p:nvSpPr>
        <p:spPr>
          <a:xfrm>
            <a:off x="354330" y="211455"/>
            <a:ext cx="6188207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Đánh giá giới hạn của Triết học Hiện sinh</a:t>
            </a:r>
            <a:endParaRPr/>
          </a:p>
        </p:txBody>
      </p:sp>
      <p:sp>
        <p:nvSpPr>
          <p:cNvPr id="416" name="Google Shape;416;p18"/>
          <p:cNvSpPr txBox="1"/>
          <p:nvPr/>
        </p:nvSpPr>
        <p:spPr>
          <a:xfrm>
            <a:off x="10299092" y="29241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1333500" y="1333500"/>
            <a:ext cx="9525000" cy="4572000"/>
          </a:xfrm>
          <a:custGeom>
            <a:rect b="b" l="l" r="r" t="t"/>
            <a:pathLst>
              <a:path extrusionOk="0" h="4572000" w="9525000">
                <a:moveTo>
                  <a:pt x="76200" y="0"/>
                </a:moveTo>
                <a:lnTo>
                  <a:pt x="9448800" y="0"/>
                </a:lnTo>
                <a:cubicBezTo>
                  <a:pt x="9490884" y="0"/>
                  <a:pt x="9525000" y="34116"/>
                  <a:pt x="9525000" y="76200"/>
                </a:cubicBezTo>
                <a:lnTo>
                  <a:pt x="9525000" y="4495800"/>
                </a:lnTo>
                <a:cubicBezTo>
                  <a:pt x="9525000" y="4537884"/>
                  <a:pt x="9490884" y="4572000"/>
                  <a:pt x="9448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1333500" y="1333500"/>
            <a:ext cx="76200" cy="4572000"/>
          </a:xfrm>
          <a:custGeom>
            <a:rect b="b" l="l" r="r" t="t"/>
            <a:pathLst>
              <a:path extrusionOk="0" h="4572000" w="762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4533900"/>
                </a:lnTo>
                <a:cubicBezTo>
                  <a:pt x="76200" y="4554942"/>
                  <a:pt x="59142" y="4572000"/>
                  <a:pt x="38100" y="4572000"/>
                </a:cubicBezTo>
                <a:lnTo>
                  <a:pt x="38100" y="4572000"/>
                </a:lnTo>
                <a:cubicBezTo>
                  <a:pt x="17058" y="4572000"/>
                  <a:pt x="0" y="4554942"/>
                  <a:pt x="0" y="453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 txBox="1"/>
          <p:nvPr/>
        </p:nvSpPr>
        <p:spPr>
          <a:xfrm>
            <a:off x="1786890" y="1710690"/>
            <a:ext cx="26220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Giới hạn cấu trúc:</a:t>
            </a:r>
            <a:endParaRPr/>
          </a:p>
        </p:txBody>
      </p:sp>
      <p:sp>
        <p:nvSpPr>
          <p:cNvPr id="420" name="Google Shape;420;p18"/>
          <p:cNvSpPr txBox="1"/>
          <p:nvPr/>
        </p:nvSpPr>
        <p:spPr>
          <a:xfrm>
            <a:off x="1786890" y="2139315"/>
            <a:ext cx="1006182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Hiện sinh nhấn mạnh tự do, nhưng thực tế nhiều founder bị trói buộc tài chính.</a:t>
            </a:r>
            <a:endParaRPr/>
          </a:p>
        </p:txBody>
      </p:sp>
      <p:sp>
        <p:nvSpPr>
          <p:cNvPr id="421" name="Google Shape;421;p18"/>
          <p:cNvSpPr txBox="1"/>
          <p:nvPr/>
        </p:nvSpPr>
        <p:spPr>
          <a:xfrm>
            <a:off x="1786890" y="2567940"/>
            <a:ext cx="41468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Tính đại diện của Case study:</a:t>
            </a:r>
            <a:endParaRPr/>
          </a:p>
        </p:txBody>
      </p:sp>
      <p:sp>
        <p:nvSpPr>
          <p:cNvPr id="422" name="Google Shape;422;p18"/>
          <p:cNvSpPr txBox="1"/>
          <p:nvPr/>
        </p:nvSpPr>
        <p:spPr>
          <a:xfrm>
            <a:off x="1786890" y="2996565"/>
            <a:ext cx="102852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Mô hình Vingroup (tỷ đô) rất khó để soi chiếu trực tiếp cho các startup sơ khai.</a:t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>
            <a:off x="1786890" y="3425190"/>
            <a:ext cx="26746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Xung đột cực hạn: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1786890" y="3853815"/>
            <a:ext cx="106401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Sự mâu thuẫn giữa khát khao tồn tại của startup và định hướng phát triển lý tưởng.</a:t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381000" y="6334125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>
            <a:off x="10338318" y="406718"/>
            <a:ext cx="142136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NHÓM</a:t>
            </a:r>
            <a:endParaRPr/>
          </a:p>
        </p:txBody>
      </p:sp>
      <p:sp>
        <p:nvSpPr>
          <p:cNvPr id="435" name="Google Shape;435;p19"/>
          <p:cNvSpPr txBox="1"/>
          <p:nvPr/>
        </p:nvSpPr>
        <p:spPr>
          <a:xfrm>
            <a:off x="2659962" y="2436495"/>
            <a:ext cx="687207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9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Cảm ơn quý vị đã lắng nghe!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5095542" y="3202305"/>
            <a:ext cx="2000917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Q&amp;A / Hỏi đáp</a:t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4191000" y="4000500"/>
            <a:ext cx="3810000" cy="9525"/>
          </a:xfrm>
          <a:custGeom>
            <a:rect b="b" l="l" r="r" t="t"/>
            <a:pathLst>
              <a:path extrusionOk="0" h="9525" w="3810000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cap="flat" cmpd="sng" w="1905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6048375" y="3952875"/>
            <a:ext cx="95250" cy="9525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4699540" y="4377690"/>
            <a:ext cx="279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Thuyết trình môn học</a:t>
            </a:r>
            <a:endParaRPr/>
          </a:p>
        </p:txBody>
      </p:sp>
      <p:sp>
        <p:nvSpPr>
          <p:cNvPr id="440" name="Google Shape;440;p19"/>
          <p:cNvSpPr txBox="1"/>
          <p:nvPr/>
        </p:nvSpPr>
        <p:spPr>
          <a:xfrm>
            <a:off x="5315664" y="5934075"/>
            <a:ext cx="156067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Tháng 4 / 2026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